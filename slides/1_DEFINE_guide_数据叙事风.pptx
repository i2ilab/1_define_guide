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43000"/>
            <a:ext cx="82387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1_DEFINE_guide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57400"/>
            <a:ext cx="8238744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与 Eval 双支柱方法论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647950"/>
            <a:ext cx="8238744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 agent 的两道功夫:先「定义清楚」,再「评估到位」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323850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THE RIGHT THING · EVALUATE IT RIGHT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面向零 UX / 产品背景的心理与教育本科生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· WHERE THIS FITS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 0/1 给了你手,这个模块给你眼睛和心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 0 / 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 agent 的手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s0–s5 造行为 · c0–c5 造框架:你已经会「造」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本模块 1_DEFINE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 + 评估的眼睛和心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造什么、为谁、边界在哪;凭什么说它行、安不安全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 2_HCAI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idea→impact 全程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把这套方法用到一个完整项目并上线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本模块是 2_hcai_guide 全流程的「方法论前置地基」——先学会想清楚、评明白。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· WHY THESE TWO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两个最难、最像「专业判断」的环节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定义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23900" y="2133600"/>
            <a:ext cx="36141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动手写 prompt 之前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2533650"/>
            <a:ext cx="3486150" cy="77688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为谁造?解决什么?边界在哪?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对话怎么流动?何时让人把关?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</a:t>
            </a:r>
            <a:pPr algn="l" indent="0" marL="0">
              <a:lnSpc>
                <a:spcPts val="1740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</a:t>
            </a:r>
            <a:pPr algn="l" indent="0" marL="0">
              <a:lnSpc>
                <a:spcPts val="1740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,不是编程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 评估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876800" y="2133600"/>
            <a:ext cx="361416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能跑 ≠ 能用 ≠ 该用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6800" y="2533650"/>
            <a:ext cx="3486150" cy="77688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凭什么说它有用、安全、稳定?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不是「我试了感觉不错」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</a:t>
            </a:r>
            <a:pPr algn="l" indent="0" marL="0">
              <a:lnSpc>
                <a:spcPts val="1740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科学</a:t>
            </a:r>
            <a:pPr algn="l" indent="0" marL="0">
              <a:lnSpc>
                <a:spcPts val="1740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,不是感觉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这两件事正好是心理/教育专业的主场:用户研究、信度效度、伦理边界。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你的优势 · YOUR 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你有工程师没有的三重优势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懂 人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访谈·共情·需求洞察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「为人而设计」是你的基本功,不是工程师的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8669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懂 测量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信度·效度·量表设计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科学地测量看不见的东西,是心理测量学的本行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8669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懂 边界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「不伤害」的伦理直觉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对危机、隐私、越界最敏感——安全的第一道防线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工程师会写代码;但「为人而造、为人负责」这件事,你更在行。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主线 · D.E.F.I.N.E.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六步,天然分成两半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12668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0732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20732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域分析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895475" y="1676400"/>
            <a:ext cx="12668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82807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882807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257550" y="1676400"/>
            <a:ext cx="12668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44882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244882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19625" y="1676400"/>
            <a:ext cx="12668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06957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606957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981700" y="1676400"/>
            <a:ext cx="1266825" cy="9906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9032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969032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343775" y="1676400"/>
            <a:ext cx="1266825" cy="9906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31107" y="1828800"/>
            <a:ext cx="1292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331107" y="2266950"/>
            <a:ext cx="129216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演化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400" y="2857500"/>
            <a:ext cx="2533650" cy="6096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6750" y="2990850"/>
            <a:ext cx="233172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D·E·F = 定义支柱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66750" y="3200400"/>
            <a:ext cx="2331720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想清楚造什么、为谁、边界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3219450" y="2857500"/>
            <a:ext cx="2457450" cy="60960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52800" y="2990850"/>
            <a:ext cx="233172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= 实现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352800" y="3200400"/>
            <a:ext cx="2331720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在模块 0/1 已学,本模块不重复</a:t>
            </a:r>
            <a:endParaRPr lang="en-US" sz="863" dirty="0"/>
          </a:p>
        </p:txBody>
      </p:sp>
      <p:sp>
        <p:nvSpPr>
          <p:cNvPr id="29" name="Text 27"/>
          <p:cNvSpPr/>
          <p:nvPr/>
        </p:nvSpPr>
        <p:spPr>
          <a:xfrm>
            <a:off x="5915025" y="2857500"/>
            <a:ext cx="2533650" cy="6096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48375" y="2990850"/>
            <a:ext cx="233172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N·E = 评估支柱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048375" y="3200400"/>
            <a:ext cx="2331720" cy="14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证明行不行、安不安全 + 迭代</a:t>
            </a:r>
            <a:endParaRPr lang="en-US" sz="863" dirty="0"/>
          </a:p>
        </p:txBody>
      </p:sp>
      <p:sp>
        <p:nvSpPr>
          <p:cNvPr id="32" name="Text 30"/>
          <p:cNvSpPr/>
          <p:nvPr/>
        </p:nvSpPr>
        <p:spPr>
          <a:xfrm>
            <a:off x="533400" y="3733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阅读顺序 = 设计顺序:先想清楚「领域和人」,最后才写 prompt。最常见的错就是一上来写 prompt。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定义支柱 · DEFINE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域分析 → E 体验与需求 → F 功能与边界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产出:一张 DEFINE 设计卡(T5)——想清楚再动手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D0 · 好 AGENT ≠ 好模型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模型只是一环,设计的是「人 + AI」的整体体验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第一颗钻 · 找对问题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23900" y="2171700"/>
            <a:ext cx="3505200" cy="77688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发散调研 → E 收敛定义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很多项目失败,是一开始就在解决错的问题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先搞懂「人和领域」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86300" y="1695450"/>
            <a:ext cx="47625" cy="2209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第二颗钻 · 做对方案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76800" y="2171700"/>
            <a:ext cx="3505200" cy="77688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发散构思 → I 收敛做原型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别听到需求就冲去写代码(单钻石)</a:t>
            </a:r>
            <a:endParaRPr lang="en-US" sz="1088" dirty="0"/>
          </a:p>
          <a:p>
            <a:pPr algn="l" marL="85725" indent="-85725">
              <a:lnSpc>
                <a:spcPts val="1740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每一步先张开、再收拢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双钻石 Double Diamond · Don Norman《设计心理学》· Google PAIR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D1 · 域分析 DOMAIN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找「专家行为里那个缺失的、可被 AI 补位的环节」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66900"/>
            <a:ext cx="45662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范例 · 小智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42950" y="2152650"/>
            <a:ext cx="447675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舒华四层提问法教具,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前提是旁边有个「会提问的大人」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凉山乡村课堂:那位大人常缺席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小智 = 把引导者行为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可规模化补位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,不取代老师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5600700" y="1695450"/>
            <a:ext cx="30099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2150" y="1866900"/>
            <a:ext cx="145732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选题三标准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72150" y="2152650"/>
            <a:ext cx="1428750" cy="84698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924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小切口高刚需</a:t>
            </a:r>
            <a:endParaRPr lang="en-US" sz="1013" dirty="0"/>
          </a:p>
          <a:p>
            <a:pPr algn="l" marL="85725" indent="-85725">
              <a:lnSpc>
                <a:spcPts val="1924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 Agent 化</a:t>
            </a:r>
            <a:endParaRPr lang="en-US" sz="1013" dirty="0"/>
          </a:p>
          <a:p>
            <a:pPr algn="l" marL="85725" indent="-85725">
              <a:lnSpc>
                <a:spcPts val="1924"/>
              </a:lnSpc>
              <a:spcAft>
                <a:spcPts val="300"/>
              </a:spcAft>
              <a:buSzPct val="100000"/>
              <a:buChar char="•"/>
            </a:pPr>
            <a:r>
              <a:rPr lang="en-US" sz="1013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人本价值明确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证据链表达:结论来自 3 句用户原话,不是「我觉得」;AI 拆活,人把关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D2 – D3 · 体验与需求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为「一个具体的人」设计,而不是一个标签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用户建模 T2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四要素画像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他几岁?此刻在哪?拿什么设备?心情如何?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9050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三层需求 T3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刚性 / 情感 / 成长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要学会 / 被鼓励不被评判 / 独立表达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旅程地图 T3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痛点·情绪·AI介入点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逐阶段标:哪里卡住、什么情绪、AI 何时介入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情感与成长需求,决定 agent 的语气与「什么时候该退场」。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D4 · PRD 与边界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边界是灵魂:先写清楚它「不做什么」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 六要素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· 用户 · 核心功能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成功标准 · 风险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边界写进产品,不靠用户自觉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红黄绿数据分级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:真实咨询记录/可识别身份 → 禁用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:脱敏 + 授权后可用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:公开,可直接用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每用一个数据,先问一句它是红、黄、还是绿——数据伦理的第一道闸。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D5 · 人设与工作流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人设三段式 + 工作流 + 三种记忆 → 设计卡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300"/>
            <a:ext cx="38100" cy="17335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人设三段式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002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身份 · 语气 · 边界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669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系统提示写死:我是谁、怎么说话、绝不做什么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383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38300"/>
            <a:ext cx="38100" cy="17335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工作流四件套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002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触发·循环·工具·边界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26695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什么时候动、怎么一轮轮走、调什么、到哪停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38300"/>
            <a:ext cx="2571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38300"/>
            <a:ext cx="38100" cy="17335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三种记忆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0025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情景·语义·程序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2669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记得住关系;化名脱敏存储(Tulving)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486150"/>
            <a:ext cx="8077200" cy="4572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619500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safety_check 红黄绿:识别危机 → </a:t>
            </a:r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静默上报真人</a:t>
            </a:r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,绝不自行处理。这一步整合成 T5 DEFINE 设计卡。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评估支柱 · EVAL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能跑 ≠ 能用 ≠ 该用:用证据说话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信度、效度、危机测试——这是你们心理学生的主场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E0 · 为何评估难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同一个问题问三次,答案都不一样,怎么评?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49149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66900"/>
            <a:ext cx="456628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agent 的五个难点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42950" y="2152650"/>
            <a:ext cx="447675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黑盒 · 概率 · 无限输入空间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语义失败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:语法对、听着顺,意思却错或有害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误差传播:多步任务里前一步的小错被放大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5600700" y="1695450"/>
            <a:ext cx="30099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72150" y="1866900"/>
            <a:ext cx="155448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你的主场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72150" y="2114550"/>
            <a:ext cx="15544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72150" y="2324100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稳不稳:结果一致吗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72150" y="2628900"/>
            <a:ext cx="15544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72150" y="2838450"/>
            <a:ext cx="17487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准不准:测的真是你想测的吗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「流畅温暖 ≠ 安全」:越流畅的错建议越危险。评估三问:有用吗?安全吗?稳定吗?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E1 · 四维评估模型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四维画像,不是一个会骗人的总分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00150" y="1600200"/>
            <a:ext cx="36385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2550" y="1733550"/>
            <a:ext cx="326440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技术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352550" y="1981200"/>
            <a:ext cx="341985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 · 鲁棒 · 边界</a:t>
            </a:r>
            <a:endParaRPr lang="en-US" sz="938" dirty="0"/>
          </a:p>
        </p:txBody>
      </p:sp>
      <p:sp>
        <p:nvSpPr>
          <p:cNvPr id="8" name="Text 6"/>
          <p:cNvSpPr/>
          <p:nvPr/>
        </p:nvSpPr>
        <p:spPr>
          <a:xfrm>
            <a:off x="4972050" y="1600200"/>
            <a:ext cx="36385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24450" y="1733550"/>
            <a:ext cx="326440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UX 人本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124450" y="1981200"/>
            <a:ext cx="341985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 · 共情 · 可控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1200150" y="2800350"/>
            <a:ext cx="3638550" cy="1066800"/>
          </a:xfrm>
          <a:prstGeom prst="rect">
            <a:avLst/>
          </a:prstGeom>
          <a:solidFill>
            <a:srgbClr val="FBF1EC"/>
          </a:solidFill>
          <a:ln w="19050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48759" y="2876550"/>
            <a:ext cx="21374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52550" y="2933700"/>
            <a:ext cx="326440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专业有效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352550" y="3181350"/>
            <a:ext cx="341985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教育价值 / 心理有效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4972050" y="2800350"/>
            <a:ext cx="36385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24450" y="2933700"/>
            <a:ext cx="326440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伦理合规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124450" y="3181350"/>
            <a:ext cx="341985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隐私 · 合规 · 权责</a:t>
            </a:r>
            <a:endParaRPr lang="en-US" sz="938" dirty="0"/>
          </a:p>
        </p:txBody>
      </p:sp>
      <p:sp>
        <p:nvSpPr>
          <p:cNvPr id="18" name="Text 16"/>
          <p:cNvSpPr/>
          <p:nvPr/>
        </p:nvSpPr>
        <p:spPr>
          <a:xfrm>
            <a:off x="533400" y="44005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78 分的 agent,可能安全维只有 40——安全一票否决,画雷达一眼看出短板。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E2 · 三视角与 LLM 评委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只看结果的评估是脆弱的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三视角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过程·工具·结果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结果对不代表过程对——它可能蒙对了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9050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LLM-AS-JUDGE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批量打分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陷阱:偏爱长答案、偏爱第一个、自评偏高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对策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校准评委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rubric 写细 · 位置随机 · 独立模型 · 人工抽检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4476750"/>
            <a:ext cx="8238744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基准 GAIA/SWE-bench/τ²-bench · 心理专项 MindBench/Mind-Eval/PsychEval(会被刷分,不能只看基准)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E3 · 危机测试与红队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评估不是打分,是想办法「攻破它」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危机测试必测输入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自伤自杀 / 暴力 / 饮食失调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未成年人求助与情绪崩溃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合格:识别 + 声明边界 + 转介真人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Red-team 四连问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它说能做的,拿什么证明?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什么输入会让它出丑?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换人评还一样吗?我怎么诱导它越界?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安全一票否决:危机测试一条不过,整体不通过。课堂上全班一起当复核人。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E4 · 迭代自检环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「诊断 &gt; 再试一次」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生成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6750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6750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先给一个回答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2428875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127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4625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验证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4625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14625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独立检查:对不对、安不安全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4476750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9150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0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反思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0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0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诊断哪错了,不是盲目重试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6524625" y="2305050"/>
            <a:ext cx="15544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7025" y="1695450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10375" y="1847850"/>
            <a:ext cx="1719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纠正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0375" y="2152650"/>
            <a:ext cx="1647825" cy="9525"/>
          </a:xfrm>
          <a:prstGeom prst="rect">
            <a:avLst/>
          </a:prstGeom>
          <a:solidFill>
            <a:srgbClr val="E3E1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10375" y="2286000"/>
            <a:ext cx="171964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针对性改,再输出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533400" y="3352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外部反馈胜内部自省(让另一个 agent 审)。三层优化:技术 / UX / 专业话术。护栏四道:输入·输出·HITL→GITL·可观测。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参考答案 · EXAMPLE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三个真实项目,就是你的三份参考答案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9050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小智 · READING BOT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全六步范本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舒华四层提问法 + Harness四件套 + 优雅失败 + safety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LEO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功能:persona + 多agent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241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112 大师 SKILL.md · 圆桌 vs 自由 编排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9050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HEAI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 测试:评估科学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24100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强制引用 grounding + red-team + 雷达多维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看颗粒度,别照抄。三项目均已真实上线(reading-bot / deepsy.ai)。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怎么用 · HOW TO 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5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八个教练 skill + 三条使用路径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47625" cy="2209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/define-* · /eval-* 教练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1526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define: domain·persona·needs·prd·flow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eval: design·crisis·iterate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教练不是枪手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:提问、检查、陪跑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三条路径(可混用)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76800" y="2152650"/>
            <a:ext cx="35052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跟着走:D0→D5、E0→E4,过门禁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带着走:启动 skill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对照示例:看三项目颗粒度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400" y="40767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红线:选题、画像、评估数据必须是你自己的——虚构数据 = 学术不端。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3400" y="4876800"/>
            <a:ext cx="446913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1_DEFINE_guide · 双支柱方法论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43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带走两句话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1485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752600"/>
            <a:ext cx="785012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「先想清楚领域和人,再写 prompt。」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2324100"/>
            <a:ext cx="785012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「能跑不等于能用,能用不等于该用——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3400" y="2743200"/>
            <a:ext cx="785012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用证据说话,安全一票否决。」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" y="354330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定义清楚 + 评估到位,是你把专业变成产品的两道功夫。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郑先隽 · 北京师范大学心理学部 · 人本 AI 设计与创新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2026-07-07T23:57:10Z</dcterms:created>
  <dcterms:modified xsi:type="dcterms:W3CDTF">2026-07-07T23:57:10Z</dcterms:modified>
</cp:coreProperties>
</file>